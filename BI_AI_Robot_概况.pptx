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3200400"/>
            <a:ext cx="2011680" cy="2011680"/>
          </a:xfrm>
          <a:prstGeom prst="ellipse">
            <a:avLst/>
          </a:prstGeom>
          <a:solidFill>
            <a:srgbClr val="14B8A6">
              <a:alpha val="12000"/>
            </a:srgbClr>
          </a:solidFill>
          <a:ln w="12700">
            <a:solidFill>
              <a:srgbClr val="14B8A6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8872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 AI Robot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02920" y="2606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观远 BI 反向工程 · AI 驱动智能日报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32461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 Legacy BI 提取分析框架，每日自动生成管理层报告并推送飞书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429768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42976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3.11+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87752" y="429768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87752" y="42976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72584" y="429768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72584" y="42976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/ Claude / Azure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57416" y="429768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57416" y="42976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飞书推送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项目背景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51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 BI 系统的痛点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" y="1572768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5087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分析资产分散，缺乏统一治理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" y="2103120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0391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卡片命名技术化、重复，业务难以理解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8368" y="2633472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5694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无法自动生成可解读的管理层报告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" y="3163824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30998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手工整理数据耗时，易出错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" y="3694176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36301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报告数字缺乏溯源，无法核查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914400"/>
            <a:ext cx="3931920" cy="356616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1051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AI Robot 的解法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956048" y="1572768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38928" y="15087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反向工程 BI，提取卡片结构与业务语义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956048" y="2103120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38928" y="20391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识别模糊命名，交互确认业务含义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956048" y="2633472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38928" y="256946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自动推断分析框架与章节规划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956048" y="3163824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38928" y="309981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每日自动采集数据 → 生成管理层日报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956048" y="3694176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38928" y="36301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数字溯源 + 幻觉检测机制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 大核心能力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278892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914400"/>
            <a:ext cx="27889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4241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仪表板元数据采集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46304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自动发现所有卡片、字段和筛选器结构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46120" y="914400"/>
            <a:ext cx="278892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46120" y="914400"/>
            <a:ext cx="27889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04241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业务语义澄清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0" y="146304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识别模糊卡片，交互式向业务方确认用途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914400"/>
            <a:ext cx="278892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914400"/>
            <a:ext cx="27889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04241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分析框架推断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55080" y="146304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读懂数据结构，自动设计章节与预警规则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" y="2468880"/>
            <a:ext cx="278892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468880"/>
            <a:ext cx="27889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59689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每日 AI 分析报告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30175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结论前置、数字密集的管理层日报自动生成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46120" y="2468880"/>
            <a:ext cx="278892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46120" y="2468880"/>
            <a:ext cx="27889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259689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 事实核查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83280" y="30175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对照源数据逐条验证报告数字，检测 AI 幻觉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17920" y="2468880"/>
            <a:ext cx="278892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0" y="2468880"/>
            <a:ext cx="27889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259689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飞书自动推送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55080" y="30175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报告生成后即时推送到飞书群，零人工干预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74320" y="4023360"/>
            <a:ext cx="8595360" cy="80467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4023360"/>
            <a:ext cx="548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1330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BI 治理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651760" y="413308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盘点重复卡片、梳理模糊指标，优化分析体系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四角色架构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系统模拟四个协作角色，职责清晰分离，可独立触发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0116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2011680" cy="2011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4630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21488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需求调研员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" y="2606040"/>
            <a:ext cx="1682496" cy="292608"/>
          </a:xfrm>
          <a:prstGeom prst="roundRect">
            <a:avLst>
              <a:gd name="adj" fmla="val 18750"/>
            </a:avLst>
          </a:prstGeom>
          <a:solidFill>
            <a:srgbClr val="8B5CF6">
              <a:alpha val="12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2606040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clarify.py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2990088"/>
            <a:ext cx="1682496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99008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初始化一次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3383280"/>
            <a:ext cx="1792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识别语义模糊卡片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交互式向业务方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确认真实含义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0" y="2990088"/>
            <a:ext cx="164592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68880" y="1188720"/>
            <a:ext cx="20116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68880" y="1188720"/>
            <a:ext cx="201168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14630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🏗️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560320" y="21488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分析架构师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633472" y="2606040"/>
            <a:ext cx="1682496" cy="292608"/>
          </a:xfrm>
          <a:prstGeom prst="roundRect">
            <a:avLst>
              <a:gd name="adj" fmla="val 18750"/>
            </a:avLst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33472" y="2606040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generate_analysis.py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633472" y="2990088"/>
            <a:ext cx="1682496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33472" y="299008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初始化/结构变化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78608" y="3383280"/>
            <a:ext cx="1792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读懂卡片结构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设计分析框架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产出操作手册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80560" y="2990088"/>
            <a:ext cx="164592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1188720"/>
            <a:ext cx="20116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1188720"/>
            <a:ext cx="2011680" cy="2011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14630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✍️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4754880" y="21488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数据分析师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828032" y="2606040"/>
            <a:ext cx="1682496" cy="292608"/>
          </a:xfrm>
          <a:prstGeom prst="roundRect">
            <a:avLst>
              <a:gd name="adj" fmla="val 18750"/>
            </a:avLst>
          </a:prstGeom>
          <a:solidFill>
            <a:srgbClr val="0EA5E9">
              <a:alpha val="12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2606040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analyze.py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28032" y="2990088"/>
            <a:ext cx="1682496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299008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每日自动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73168" y="3383280"/>
            <a:ext cx="1792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基于实时数据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生成管理层日报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标注每个数字出处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675120" y="2990088"/>
            <a:ext cx="164592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58000" y="1188720"/>
            <a:ext cx="20116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858000" y="1188720"/>
            <a:ext cx="2011680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0" y="14630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🔎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6949440" y="21488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数据核对员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022592" y="2606040"/>
            <a:ext cx="1682496" cy="292608"/>
          </a:xfrm>
          <a:prstGeom prst="roundRect">
            <a:avLst>
              <a:gd name="adj" fmla="val 18750"/>
            </a:avLst>
          </a:prstGeom>
          <a:solidFill>
            <a:srgbClr val="16A34A">
              <a:alpha val="12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22592" y="2606040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fact_check.py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022592" y="2990088"/>
            <a:ext cx="1682496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22592" y="299008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每日自动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967728" y="3383280"/>
            <a:ext cx="1792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逐条核查报告数字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检测 AI 幻觉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1.5% 容差判定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运行流程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8595360" cy="1691640"/>
          </a:xfrm>
          <a:prstGeom prst="rect">
            <a:avLst/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初始化（一次性）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2560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389888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89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38988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discover.py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2648" y="177393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发现卡片结构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cards.yaml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63240" y="1856232"/>
            <a:ext cx="256032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1353312"/>
            <a:ext cx="2560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1389888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389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40480" y="138988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clarify.py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47288" y="177393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澄清语义模糊卡片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business_desc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97880" y="1856232"/>
            <a:ext cx="256032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1353312"/>
            <a:ext cx="2560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1389888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1389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75120" y="138988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generate_analysis.py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81928" y="177393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规划分析框架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analysis.yaml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788920"/>
            <a:ext cx="8595360" cy="1920240"/>
          </a:xfrm>
          <a:prstGeom prst="rect">
            <a:avLst/>
          </a:prstGeom>
          <a:solidFill>
            <a:srgbClr val="F0FDFA"/>
          </a:solidFill>
          <a:ln w="15240">
            <a:solidFill>
              <a:srgbClr val="99F6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8346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每日自动运行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" y="324612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9F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66928" y="3291840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3291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9264" y="330098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collect.py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66928" y="3712464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登录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并发抓取数据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395728" y="3840480"/>
            <a:ext cx="210312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24328" y="324612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9F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15768" y="3291840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15768" y="3291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118104" y="330098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analyze.py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715768" y="3712464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分析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生成报告+Citations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44568" y="3840480"/>
            <a:ext cx="210312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73168" y="324612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9F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64608" y="3291840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64608" y="3291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266944" y="330098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fact_check.py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864608" y="3712464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逐条核查数字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幻觉检测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693408" y="3840480"/>
            <a:ext cx="210312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22008" y="324612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9F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013448" y="3291840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13448" y="3291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415784" y="330098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notify.py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013448" y="3712464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推送飞书群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自动送达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技术栈与系统架构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1005840"/>
            <a:ext cx="73152" cy="17830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155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数据采集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591056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5361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Playwright（登录 + Cookie）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956816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9019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requests（BI API 并发抓取）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322576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226771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split_by_filter 筛选器遍历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100584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005840"/>
            <a:ext cx="73152" cy="1783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1155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推理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92040" y="1591056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56632" y="15361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Gemini（默认，流式 SSE）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92040" y="1956816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56632" y="19019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Azure OpenAI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92040" y="2322576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56632" y="226771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 provider 统一 ai_client.py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301752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017520"/>
            <a:ext cx="73152" cy="17830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1272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数据处理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2920" y="3602736"/>
            <a:ext cx="91440" cy="914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" y="354787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data_prep.py 结构化压缩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" y="3968496"/>
            <a:ext cx="91440" cy="914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" y="39136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validate_data.py 时效+值域校验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" y="4334256"/>
            <a:ext cx="91440" cy="914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" y="42793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fact_check.py Citations核查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09160" y="301752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3017520"/>
            <a:ext cx="73152" cy="1783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31272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 &amp; 推送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892040" y="3602736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56632" y="354787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PyYAML / python-dotenv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892040" y="3968496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56632" y="39136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飞书 Webhook（notify.py）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92040" y="4334256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56632" y="42793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outputs/ 全部 gitignored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关键决策：Gemini 流式 SSE 避免企业代理超时 · T+1 数据模型 · prompts 块手工维护 · 虚拟环境 python/.venv/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模块完成度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8686800" cy="374904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0"/>
            <a:ext cx="20116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脚本文件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423160" y="914400"/>
            <a:ext cx="5486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71800" y="914400"/>
            <a:ext cx="6126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说明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289304"/>
            <a:ext cx="868680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89304"/>
            <a:ext cx="20116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ai_client.py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23160" y="1289304"/>
            <a:ext cx="5486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A34A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71800" y="1289304"/>
            <a:ext cx="5989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 provider，流式 / Vision / thinking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664208"/>
            <a:ext cx="8686800" cy="37490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664208"/>
            <a:ext cx="20116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collect.py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23160" y="1664208"/>
            <a:ext cx="5486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A34A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71800" y="1664208"/>
            <a:ext cx="5989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登录 + 并发采集 → manifest_{YYYYMMDD}.json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039112"/>
            <a:ext cx="868680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039112"/>
            <a:ext cx="20116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discover.py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23160" y="2039112"/>
            <a:ext cx="5486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A34A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71800" y="2039112"/>
            <a:ext cx="5989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发现卡片元数据 → cards.yaml / filters.yaml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414016"/>
            <a:ext cx="8686800" cy="37490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414016"/>
            <a:ext cx="20116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generate_analysis.py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423160" y="2414016"/>
            <a:ext cx="5486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A34A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971800" y="2414016"/>
            <a:ext cx="5989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全列名，max_tokens=8192，excluded_cards 机制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2788920"/>
            <a:ext cx="868680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2788920"/>
            <a:ext cx="20116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data_prep.py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423160" y="2788920"/>
            <a:ext cx="5486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A34A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971800" y="2788920"/>
            <a:ext cx="5989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header 含 (card=key) 供 citations 定位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3163824"/>
            <a:ext cx="8686800" cy="37490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163824"/>
            <a:ext cx="20116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validate_data.py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423160" y="3163824"/>
            <a:ext cx="5486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A34A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971800" y="3163824"/>
            <a:ext cx="5989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T+1 时效校验，值域异常检测（折扣/占比&gt;1）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" y="3538728"/>
            <a:ext cx="868680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538728"/>
            <a:ext cx="20116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analyze.py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423160" y="3538728"/>
            <a:ext cx="5486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A34A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971800" y="3538728"/>
            <a:ext cx="5989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全局 output rules，report_title_suffix，--analysis 变体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0040" y="3913632"/>
            <a:ext cx="8686800" cy="37490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3913632"/>
            <a:ext cx="20116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fact_check.py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423160" y="3913632"/>
            <a:ext cx="5486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A34A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2971800" y="3913632"/>
            <a:ext cx="5989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模式，1.5% 容差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20040" y="4288536"/>
            <a:ext cx="868680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4288536"/>
            <a:ext cx="20116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clarify.py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423160" y="4288536"/>
            <a:ext cx="5486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7706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⏳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2971800" y="4288536"/>
            <a:ext cx="5989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已创建；待 Gemini API 额度恢复后完整测试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20040" y="4663440"/>
            <a:ext cx="8686800" cy="37490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" y="4663440"/>
            <a:ext cx="20116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notify.py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423160" y="4663440"/>
            <a:ext cx="5486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A34A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2971800" y="4663440"/>
            <a:ext cx="5989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飞书 Webhook 推送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快速开始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" y="914400"/>
            <a:ext cx="4023360" cy="384048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058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环境 &amp; 配置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794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python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python3 -m venv .venv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.venv/bin/activate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playwright install chromium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 .env.example .env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填入 BI 地址、账密、API Key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填入飞书 Webhook URL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81728" y="914400"/>
            <a:ext cx="4023360" cy="384048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0058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初始化 &amp; 每日运行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00600" y="1417320"/>
            <a:ext cx="3794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初始化（一次性）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discover.py --dashboard daily_sales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clarify.py  --dashboard daily_sales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generate_analysis.py --dashboard daily_sales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每日运行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collect.py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analyze.py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变体 &amp; 调试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analyze.py --analysis store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analyze.py --no-feishu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9144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角色协作全流程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566160" y="91440"/>
            <a:ext cx="2011680" cy="384048"/>
          </a:xfrm>
          <a:prstGeom prst="rect">
            <a:avLst/>
          </a:prstGeom>
          <a:solidFill>
            <a:srgbClr val="374151"/>
          </a:solidFill>
          <a:ln w="15240">
            <a:solidFill>
              <a:srgbClr val="9CA3A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566160" y="914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业务方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621792"/>
            <a:ext cx="4160520" cy="4343400"/>
          </a:xfrm>
          <a:prstGeom prst="rect">
            <a:avLst/>
          </a:prstGeom>
          <a:solidFill>
            <a:srgbClr val="1C1F2E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621792"/>
            <a:ext cx="41605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7132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一次性初始化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93192" y="1024128"/>
            <a:ext cx="3840480" cy="841248"/>
          </a:xfrm>
          <a:prstGeom prst="rect">
            <a:avLst/>
          </a:prstGeom>
          <a:solidFill>
            <a:srgbClr val="252836"/>
          </a:solidFill>
          <a:ln w="1016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93192" y="1024128"/>
            <a:ext cx="54864" cy="8412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133856"/>
            <a:ext cx="475488" cy="47548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1338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69848" y="1097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侦察员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69848" y="138988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discover.py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69848" y="1591056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扫描仪表板，把所有卡片和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筛选器登记成元数据文件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313432" y="1892808"/>
            <a:ext cx="0" cy="22860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58568" y="2093976"/>
            <a:ext cx="109728" cy="5486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3192" y="2057400"/>
            <a:ext cx="3840480" cy="841248"/>
          </a:xfrm>
          <a:prstGeom prst="rect">
            <a:avLst/>
          </a:prstGeom>
          <a:solidFill>
            <a:srgbClr val="252836"/>
          </a:solidFill>
          <a:ln w="1016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93192" y="2057400"/>
            <a:ext cx="54864" cy="8412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2167128"/>
            <a:ext cx="475488" cy="47548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167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🗣️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69848" y="21305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需求调研员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69848" y="242316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clarify.py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69848" y="262432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逐一问业务方卡片含义，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把答案写进卡片档案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313432" y="2926080"/>
            <a:ext cx="0" cy="22860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58568" y="3127248"/>
            <a:ext cx="109728" cy="5486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3192" y="3090672"/>
            <a:ext cx="3840480" cy="841248"/>
          </a:xfrm>
          <a:prstGeom prst="rect">
            <a:avLst/>
          </a:prstGeom>
          <a:solidFill>
            <a:srgbClr val="252836"/>
          </a:solidFill>
          <a:ln w="1016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93192" y="3090672"/>
            <a:ext cx="54864" cy="8412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3200400"/>
            <a:ext cx="475488" cy="47548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200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🏗️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69848" y="31638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分析架构师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69848" y="345643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generate_analysis.py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69848" y="36576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读懂所有卡片档案，规划报告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章节和数据处理规则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621792"/>
            <a:ext cx="4251960" cy="4343400"/>
          </a:xfrm>
          <a:prstGeom prst="rect">
            <a:avLst/>
          </a:prstGeom>
          <a:solidFill>
            <a:srgbClr val="0F1F1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621792"/>
            <a:ext cx="42519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71323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每日自动运行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28032" y="987552"/>
            <a:ext cx="3931920" cy="749808"/>
          </a:xfrm>
          <a:prstGeom prst="rect">
            <a:avLst/>
          </a:prstGeom>
          <a:solidFill>
            <a:srgbClr val="0A2020"/>
          </a:solidFill>
          <a:ln w="1016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28032" y="987552"/>
            <a:ext cx="54864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937760" y="1097280"/>
            <a:ext cx="420624" cy="420624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37760" y="1097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📥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5468112" y="10424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数据采集员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468112" y="1298448"/>
            <a:ext cx="3182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collect.py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468112" y="1481328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用账号登录BI系统，并发把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所有卡片数据抓回来存成快照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793992" y="1755648"/>
            <a:ext cx="0" cy="164592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739128" y="1892808"/>
            <a:ext cx="109728" cy="5486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28032" y="1847088"/>
            <a:ext cx="3931920" cy="749808"/>
          </a:xfrm>
          <a:prstGeom prst="rect">
            <a:avLst/>
          </a:prstGeom>
          <a:solidFill>
            <a:srgbClr val="0A2020"/>
          </a:solidFill>
          <a:ln w="1016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828032" y="1847088"/>
            <a:ext cx="54864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937760" y="1956816"/>
            <a:ext cx="420624" cy="420624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37760" y="1956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✍️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5468112" y="1901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数据分析师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468112" y="2157984"/>
            <a:ext cx="3182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analyze.py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468112" y="2340864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按操作手册整理数据，交给 AI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写分析报告，每个数字标注出处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793992" y="2615184"/>
            <a:ext cx="0" cy="164592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739128" y="2752344"/>
            <a:ext cx="109728" cy="5486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828032" y="2706624"/>
            <a:ext cx="3931920" cy="749808"/>
          </a:xfrm>
          <a:prstGeom prst="rect">
            <a:avLst/>
          </a:prstGeom>
          <a:solidFill>
            <a:srgbClr val="0A2020"/>
          </a:solidFill>
          <a:ln w="1016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828032" y="2706624"/>
            <a:ext cx="54864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937760" y="2816352"/>
            <a:ext cx="420624" cy="420624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37760" y="2816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🔎</a:t>
            </a:r>
            <a:endParaRPr lang="en-US" sz="1500" dirty="0"/>
          </a:p>
        </p:txBody>
      </p:sp>
      <p:sp>
        <p:nvSpPr>
          <p:cNvPr id="59" name="Text 57"/>
          <p:cNvSpPr/>
          <p:nvPr/>
        </p:nvSpPr>
        <p:spPr>
          <a:xfrm>
            <a:off x="5468112" y="27614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数据核对员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5468112" y="3017520"/>
            <a:ext cx="3182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fact_check.py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468112" y="3200400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拿报告里的出处，逐条对照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原始数据核实，标出对不上的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793992" y="3474720"/>
            <a:ext cx="0" cy="164592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739128" y="3611880"/>
            <a:ext cx="109728" cy="5486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828032" y="3566160"/>
            <a:ext cx="3931920" cy="749808"/>
          </a:xfrm>
          <a:prstGeom prst="rect">
            <a:avLst/>
          </a:prstGeom>
          <a:solidFill>
            <a:srgbClr val="0A2020"/>
          </a:solidFill>
          <a:ln w="1016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4828032" y="3566160"/>
            <a:ext cx="54864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937760" y="3675888"/>
            <a:ext cx="420624" cy="420624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937760" y="3675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📢</a:t>
            </a:r>
            <a:endParaRPr lang="en-US" sz="1500" dirty="0"/>
          </a:p>
        </p:txBody>
      </p:sp>
      <p:sp>
        <p:nvSpPr>
          <p:cNvPr id="68" name="Text 66"/>
          <p:cNvSpPr/>
          <p:nvPr/>
        </p:nvSpPr>
        <p:spPr>
          <a:xfrm>
            <a:off x="5468112" y="36210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通讯员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5468112" y="3877056"/>
            <a:ext cx="3182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notify.py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5468112" y="4059936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把通过核查的报告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发到飞书群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251960" y="3511296"/>
            <a:ext cx="384048" cy="0"/>
          </a:xfrm>
          <a:prstGeom prst="line">
            <a:avLst/>
          </a:prstGeom>
          <a:noFill/>
          <a:ln w="19050">
            <a:solidFill>
              <a:srgbClr val="A78BFA"/>
            </a:solidFill>
            <a:prstDash val="dash"/>
          </a:ln>
        </p:spPr>
      </p:sp>
      <p:sp>
        <p:nvSpPr>
          <p:cNvPr id="72" name="Shape 70"/>
          <p:cNvSpPr/>
          <p:nvPr/>
        </p:nvSpPr>
        <p:spPr>
          <a:xfrm>
            <a:off x="4581144" y="3474720"/>
            <a:ext cx="73152" cy="7315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270248" y="3218688"/>
            <a:ext cx="338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交付操作手册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analysis_id.yaml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3840480" y="475488"/>
            <a:ext cx="0" cy="128016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743200" y="47548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提供仪表板地址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7973568" y="3941064"/>
            <a:ext cx="-2395728" cy="0"/>
          </a:xfrm>
          <a:prstGeom prst="line">
            <a:avLst/>
          </a:prstGeom>
          <a:noFill/>
          <a:ln w="12700">
            <a:solidFill>
              <a:srgbClr val="34D399"/>
            </a:solidFill>
            <a:prstDash val="sysDash"/>
          </a:ln>
        </p:spPr>
      </p:sp>
      <p:sp>
        <p:nvSpPr>
          <p:cNvPr id="77" name="Text 75"/>
          <p:cNvSpPr/>
          <p:nvPr/>
        </p:nvSpPr>
        <p:spPr>
          <a:xfrm>
            <a:off x="5532120" y="371246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推送日报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 AI Robot 项目概况</dc:title>
  <dc:subject>PptxGenJS Presentation</dc:subject>
  <dc:creator>BI AI Robot</dc:creator>
  <cp:lastModifiedBy>BI AI Robot</cp:lastModifiedBy>
  <cp:revision>1</cp:revision>
  <dcterms:created xsi:type="dcterms:W3CDTF">2026-04-30T16:17:11Z</dcterms:created>
  <dcterms:modified xsi:type="dcterms:W3CDTF">2026-04-30T16:17:11Z</dcterms:modified>
</cp:coreProperties>
</file>